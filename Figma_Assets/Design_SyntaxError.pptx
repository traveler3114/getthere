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11"/>
      <p:bold r:id="rId12"/>
      <p:italic r:id="rId13"/>
      <p:boldItalic r:id="rId14"/>
    </p:embeddedFont>
    <p:embeddedFont>
      <p:font typeface="Georgia" panose="02040502050405020303" pitchFamily="18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9330BE-E46E-4F03-BBDF-FB2B0E8FAEA6}">
  <a:tblStyle styleId="{5F9330BE-E46E-4F03-BBDF-FB2B0E8FAE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5" autoAdjust="0"/>
    <p:restoredTop sz="94660"/>
  </p:normalViewPr>
  <p:slideViewPr>
    <p:cSldViewPr snapToGrid="0">
      <p:cViewPr>
        <p:scale>
          <a:sx n="125" d="100"/>
          <a:sy n="125" d="100"/>
        </p:scale>
        <p:origin x="3072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FF74E-D4FF-E4F9-0874-08C23C009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EC805-6BFF-4FF8-287E-99D71AD7E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035A3-121B-9BE7-309D-A6DF26236D8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69654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5116AA-F742-0BEC-4DE1-9432AC6E074F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75900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sz="2800"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sz="2800"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sz="2800"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sz="2800"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sz="2800"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sz="2800"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sz="2800"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sz="2800"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sz="2800"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"/>
              <a:buChar char="●"/>
              <a:defRPr sz="1800"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61" r:id="rId8"/>
    <p:sldLayoutId id="214748366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EA4335"/>
          </p15:clr>
        </p15:guide>
        <p15:guide id="2" orient="horz" pos="259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7D9DDC-0744-A070-2688-78E18EA6E75E}"/>
              </a:ext>
            </a:extLst>
          </p:cNvPr>
          <p:cNvSpPr txBox="1"/>
          <p:nvPr/>
        </p:nvSpPr>
        <p:spPr>
          <a:xfrm>
            <a:off x="584200" y="4318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r-HR" sz="2400" b="1">
                <a:solidFill>
                  <a:srgbClr val="FFFFFF"/>
                </a:solidFill>
                <a:latin typeface="Georgia" panose="02040502050405020303" pitchFamily="18" charset="0"/>
              </a:rPr>
              <a:t>GetThere - prezentacija dizajna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FEE394-1A1E-F8FF-D05B-FC29E8CE7897}"/>
              </a:ext>
            </a:extLst>
          </p:cNvPr>
          <p:cNvSpPr txBox="1"/>
          <p:nvPr/>
        </p:nvSpPr>
        <p:spPr>
          <a:xfrm>
            <a:off x="584200" y="1016000"/>
            <a:ext cx="914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600">
                <a:solidFill>
                  <a:srgbClr val="ECF0F5"/>
                </a:solidFill>
                <a:latin typeface="Aptos" panose="020B0004020202020204" pitchFamily="34" charset="0"/>
              </a:rPr>
              <a:t>Tehnički pregled vizualnog identiteta, zaslona, komponenti, dimenzija, razmaka i UX logike.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93B7C-AA50-3B8B-2960-A46EDC2B96E3}"/>
              </a:ext>
            </a:extLst>
          </p:cNvPr>
          <p:cNvSpPr txBox="1"/>
          <p:nvPr/>
        </p:nvSpPr>
        <p:spPr>
          <a:xfrm>
            <a:off x="584200" y="14986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800">
                <a:solidFill>
                  <a:srgbClr val="ECF0F5"/>
                </a:solidFill>
                <a:latin typeface="Aptos" panose="020B0004020202020204" pitchFamily="34" charset="0"/>
              </a:rPr>
              <a:t>Fokus je na dosljednosti sučelja i jasnoći korisničkog puta.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D549C41-EB16-40EA-AF95-C394C9F0573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98640" y="893465"/>
            <a:ext cx="2159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64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E90D2D-3F4C-485E-5DBE-A6F72A19B109}"/>
              </a:ext>
            </a:extLst>
          </p:cNvPr>
          <p:cNvSpPr txBox="1"/>
          <p:nvPr/>
        </p:nvSpPr>
        <p:spPr>
          <a:xfrm>
            <a:off x="584200" y="355600"/>
            <a:ext cx="635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r-HR" sz="2200" b="1">
                <a:solidFill>
                  <a:srgbClr val="111827"/>
                </a:solidFill>
                <a:latin typeface="Georgia" panose="02040502050405020303" pitchFamily="18" charset="0"/>
              </a:rPr>
              <a:t>1. Vizualni identitet brenda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A46B90-989B-9318-3262-140ABC29F134}"/>
              </a:ext>
            </a:extLst>
          </p:cNvPr>
          <p:cNvSpPr txBox="1"/>
          <p:nvPr/>
        </p:nvSpPr>
        <p:spPr>
          <a:xfrm>
            <a:off x="584200" y="863600"/>
            <a:ext cx="965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600">
                <a:solidFill>
                  <a:srgbClr val="374151"/>
                </a:solidFill>
                <a:latin typeface="Aptos" panose="020B0004020202020204" pitchFamily="34" charset="0"/>
              </a:rPr>
              <a:t>Brend je definiran kroz logo, tipografiju i sustav boja.</a:t>
            </a:r>
            <a:endParaRPr lang="hr-HR" sz="1600">
              <a:solidFill>
                <a:srgbClr val="374151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02D932-8F7F-7163-AC8B-DB558763E3CF}"/>
              </a:ext>
            </a:extLst>
          </p:cNvPr>
          <p:cNvSpPr txBox="1"/>
          <p:nvPr/>
        </p:nvSpPr>
        <p:spPr>
          <a:xfrm>
            <a:off x="530342" y="228058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800" dirty="0">
                <a:solidFill>
                  <a:srgbClr val="374151"/>
                </a:solidFill>
                <a:latin typeface="Aptos" panose="020B0004020202020204" pitchFamily="34" charset="0"/>
              </a:rPr>
              <a:t>Logo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FA40D1-2B45-19FA-7FA9-89667ADDF39A}"/>
              </a:ext>
            </a:extLst>
          </p:cNvPr>
          <p:cNvSpPr txBox="1"/>
          <p:nvPr/>
        </p:nvSpPr>
        <p:spPr>
          <a:xfrm>
            <a:off x="584200" y="3575447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800" dirty="0">
                <a:solidFill>
                  <a:srgbClr val="374151"/>
                </a:solidFill>
                <a:latin typeface="Aptos" panose="020B0004020202020204" pitchFamily="34" charset="0"/>
              </a:rPr>
              <a:t>Tipografija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CFF88D-A8E9-9F26-7DB9-1E5B42F5522B}"/>
              </a:ext>
            </a:extLst>
          </p:cNvPr>
          <p:cNvSpPr txBox="1"/>
          <p:nvPr/>
        </p:nvSpPr>
        <p:spPr>
          <a:xfrm>
            <a:off x="891393" y="4015464"/>
            <a:ext cx="3810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600" dirty="0">
                <a:solidFill>
                  <a:srgbClr val="374151"/>
                </a:solidFill>
                <a:latin typeface="Aptos" panose="020B0004020202020204" pitchFamily="34" charset="0"/>
              </a:rPr>
              <a:t>Naslovi su izraženiji, a ostatak sučelja koristi čitljiv sans-serif za mobilno okruženje.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91566C3-DCC6-E282-DA07-24C40A4ED99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1343" y="1537099"/>
            <a:ext cx="2032000" cy="3429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0D0A08F-E511-9D47-E12F-C1D4148EF99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7136" y="1537099"/>
            <a:ext cx="2032000" cy="3429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740A026-258D-FDA6-98C5-D0C6A889624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4790" y="1755914"/>
            <a:ext cx="1705790" cy="170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074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2D2690-A67A-A9D5-5AEC-36EFF2EFB84E}"/>
              </a:ext>
            </a:extLst>
          </p:cNvPr>
          <p:cNvSpPr txBox="1"/>
          <p:nvPr/>
        </p:nvSpPr>
        <p:spPr>
          <a:xfrm>
            <a:off x="584200" y="355600"/>
            <a:ext cx="533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r-HR" sz="2200" b="1">
                <a:solidFill>
                  <a:srgbClr val="111827"/>
                </a:solidFill>
                <a:latin typeface="Georgia" panose="02040502050405020303" pitchFamily="18" charset="0"/>
              </a:rPr>
              <a:t>2. Tipografija i hijerarhija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9FBF3-3164-8AB0-9135-C0F3772B6964}"/>
              </a:ext>
            </a:extLst>
          </p:cNvPr>
          <p:cNvSpPr txBox="1"/>
          <p:nvPr/>
        </p:nvSpPr>
        <p:spPr>
          <a:xfrm>
            <a:off x="584200" y="863600"/>
            <a:ext cx="965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600">
                <a:solidFill>
                  <a:srgbClr val="374151"/>
                </a:solidFill>
                <a:latin typeface="Aptos" panose="020B0004020202020204" pitchFamily="34" charset="0"/>
              </a:rPr>
              <a:t>Tipografski sustav definira veličine, težine i namjenu teksta.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06D656-46D5-0B30-9E49-BE332E7E450F}"/>
              </a:ext>
            </a:extLst>
          </p:cNvPr>
          <p:cNvSpPr txBox="1"/>
          <p:nvPr/>
        </p:nvSpPr>
        <p:spPr>
          <a:xfrm>
            <a:off x="889000" y="1651000"/>
            <a:ext cx="5334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solidFill>
                  <a:srgbClr val="374151"/>
                </a:solidFill>
                <a:latin typeface="Aptos" panose="020B0004020202020204" pitchFamily="34" charset="0"/>
              </a:rPr>
              <a:t>Heading 1 / Hero - Bold 32px</a:t>
            </a:r>
            <a:endParaRPr lang="hr-HR" sz="2200">
              <a:solidFill>
                <a:srgbClr val="374151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AF78B-99CF-E5DC-472E-A002944E61F7}"/>
              </a:ext>
            </a:extLst>
          </p:cNvPr>
          <p:cNvSpPr txBox="1"/>
          <p:nvPr/>
        </p:nvSpPr>
        <p:spPr>
          <a:xfrm>
            <a:off x="889000" y="2095500"/>
            <a:ext cx="635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>
                <a:solidFill>
                  <a:srgbClr val="374151"/>
                </a:solidFill>
                <a:latin typeface="Aptos" panose="020B0004020202020204" pitchFamily="34" charset="0"/>
              </a:rPr>
              <a:t>Koristi se za glavne naslove zaslona i ključne hero sekcije.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B1521B-9C38-4CD9-F6BF-042D1B8D1080}"/>
              </a:ext>
            </a:extLst>
          </p:cNvPr>
          <p:cNvSpPr txBox="1"/>
          <p:nvPr/>
        </p:nvSpPr>
        <p:spPr>
          <a:xfrm>
            <a:off x="889000" y="29210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800">
                <a:solidFill>
                  <a:srgbClr val="374151"/>
                </a:solidFill>
                <a:latin typeface="Aptos" panose="020B0004020202020204" pitchFamily="34" charset="0"/>
              </a:rPr>
              <a:t>Heading 2 - Bold 16px do 20px</a:t>
            </a:r>
            <a:endParaRPr lang="hr-HR" sz="1800">
              <a:solidFill>
                <a:srgbClr val="374151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3DDD83-FE1F-814F-5076-6A748E776A0B}"/>
              </a:ext>
            </a:extLst>
          </p:cNvPr>
          <p:cNvSpPr txBox="1"/>
          <p:nvPr/>
        </p:nvSpPr>
        <p:spPr>
          <a:xfrm>
            <a:off x="889000" y="3327400"/>
            <a:ext cx="635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>
                <a:solidFill>
                  <a:srgbClr val="374151"/>
                </a:solidFill>
                <a:latin typeface="Aptos" panose="020B0004020202020204" pitchFamily="34" charset="0"/>
              </a:rPr>
              <a:t>Koristi se za sekcijske naslove i naslove kartica.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FB1DE1-D9C0-C144-BF75-5591FAB6D1B7}"/>
              </a:ext>
            </a:extLst>
          </p:cNvPr>
          <p:cNvSpPr txBox="1"/>
          <p:nvPr/>
        </p:nvSpPr>
        <p:spPr>
          <a:xfrm>
            <a:off x="889000" y="4127500"/>
            <a:ext cx="5334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l-PL" sz="1700">
                <a:solidFill>
                  <a:srgbClr val="374151"/>
                </a:solidFill>
                <a:latin typeface="Aptos" panose="020B0004020202020204" pitchFamily="34" charset="0"/>
              </a:rPr>
              <a:t>Body / Regular - 13px do 16px</a:t>
            </a:r>
            <a:endParaRPr lang="hr-HR" sz="1700">
              <a:solidFill>
                <a:srgbClr val="374151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74EAC6-3EFC-4F77-4505-50D87EF32F8D}"/>
              </a:ext>
            </a:extLst>
          </p:cNvPr>
          <p:cNvSpPr txBox="1"/>
          <p:nvPr/>
        </p:nvSpPr>
        <p:spPr>
          <a:xfrm>
            <a:off x="889000" y="4508500"/>
            <a:ext cx="635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l-PL">
                <a:solidFill>
                  <a:srgbClr val="374151"/>
                </a:solidFill>
                <a:latin typeface="Aptos" panose="020B0004020202020204" pitchFamily="34" charset="0"/>
              </a:rPr>
              <a:t>Koristi se za opise, podatke i standardni sadržaj.</a:t>
            </a:r>
            <a:endParaRPr lang="hr-HR">
              <a:solidFill>
                <a:srgbClr val="374151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AF8EE0-B56E-5708-8FD5-AC4DA6D4A0ED}"/>
              </a:ext>
            </a:extLst>
          </p:cNvPr>
          <p:cNvSpPr txBox="1"/>
          <p:nvPr/>
        </p:nvSpPr>
        <p:spPr>
          <a:xfrm>
            <a:off x="4308475" y="3727450"/>
            <a:ext cx="533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374151"/>
                </a:solidFill>
                <a:latin typeface="Aptos" panose="020B0004020202020204" pitchFamily="34" charset="0"/>
              </a:rPr>
              <a:t>Small / Helper - 10px do 12px</a:t>
            </a:r>
            <a:endParaRPr lang="hr-HR" sz="1600" dirty="0">
              <a:solidFill>
                <a:srgbClr val="374151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C20C8B-0FBA-E33D-CA8F-F4DB475B13EB}"/>
              </a:ext>
            </a:extLst>
          </p:cNvPr>
          <p:cNvSpPr txBox="1"/>
          <p:nvPr/>
        </p:nvSpPr>
        <p:spPr>
          <a:xfrm>
            <a:off x="4308475" y="4108450"/>
            <a:ext cx="660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>
                <a:solidFill>
                  <a:srgbClr val="374151"/>
                </a:solidFill>
                <a:latin typeface="Aptos" panose="020B0004020202020204" pitchFamily="34" charset="0"/>
              </a:rPr>
              <a:t>Koristi se za labele, pomoćne informacije i metadata tekst.</a:t>
            </a:r>
          </a:p>
        </p:txBody>
      </p:sp>
    </p:spTree>
    <p:extLst>
      <p:ext uri="{BB962C8B-B14F-4D97-AF65-F5344CB8AC3E}">
        <p14:creationId xmlns:p14="http://schemas.microsoft.com/office/powerpoint/2010/main" val="2954168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2D8DF0-A7FC-9804-1945-827820B06AF9}"/>
              </a:ext>
            </a:extLst>
          </p:cNvPr>
          <p:cNvSpPr txBox="1"/>
          <p:nvPr/>
        </p:nvSpPr>
        <p:spPr>
          <a:xfrm>
            <a:off x="584200" y="355600"/>
            <a:ext cx="533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n-NO" sz="2200" b="1">
                <a:solidFill>
                  <a:srgbClr val="111827"/>
                </a:solidFill>
                <a:latin typeface="Georgia" panose="02040502050405020303" pitchFamily="18" charset="0"/>
              </a:rPr>
              <a:t>3. Boje i njihova namjena</a:t>
            </a:r>
            <a:endParaRPr lang="hr-HR" sz="2200" b="1">
              <a:solidFill>
                <a:srgbClr val="111827"/>
              </a:solidFill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21300D-21B0-1E43-6AEA-878FF081AF31}"/>
              </a:ext>
            </a:extLst>
          </p:cNvPr>
          <p:cNvSpPr txBox="1"/>
          <p:nvPr/>
        </p:nvSpPr>
        <p:spPr>
          <a:xfrm>
            <a:off x="584200" y="863600"/>
            <a:ext cx="965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600">
                <a:solidFill>
                  <a:srgbClr val="374151"/>
                </a:solidFill>
                <a:latin typeface="Aptos" panose="020B0004020202020204" pitchFamily="34" charset="0"/>
              </a:rPr>
              <a:t>Boje su definirane funkcionalno, a ne samo estetski.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E23935-40DB-D1E9-FE7D-249873EA1028}"/>
              </a:ext>
            </a:extLst>
          </p:cNvPr>
          <p:cNvSpPr/>
          <p:nvPr/>
        </p:nvSpPr>
        <p:spPr>
          <a:xfrm>
            <a:off x="-82550" y="1842844"/>
            <a:ext cx="1676400" cy="787400"/>
          </a:xfrm>
          <a:prstGeom prst="rect">
            <a:avLst/>
          </a:prstGeom>
          <a:solidFill>
            <a:srgbClr val="5F8FF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BB97C6-04D2-2BB3-38C0-A41923A9D746}"/>
              </a:ext>
            </a:extLst>
          </p:cNvPr>
          <p:cNvSpPr/>
          <p:nvPr/>
        </p:nvSpPr>
        <p:spPr>
          <a:xfrm>
            <a:off x="1822450" y="1842844"/>
            <a:ext cx="1676400" cy="787400"/>
          </a:xfrm>
          <a:prstGeom prst="rect">
            <a:avLst/>
          </a:prstGeom>
          <a:solidFill>
            <a:srgbClr val="5A65E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4EF744-B768-C8F0-4A28-F5B1F8DF33B3}"/>
              </a:ext>
            </a:extLst>
          </p:cNvPr>
          <p:cNvSpPr/>
          <p:nvPr/>
        </p:nvSpPr>
        <p:spPr>
          <a:xfrm>
            <a:off x="3727450" y="1842844"/>
            <a:ext cx="1676400" cy="787400"/>
          </a:xfrm>
          <a:prstGeom prst="rect">
            <a:avLst/>
          </a:prstGeom>
          <a:solidFill>
            <a:srgbClr val="5A24D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88CB4-3244-CED2-FF85-19C6694BC37C}"/>
              </a:ext>
            </a:extLst>
          </p:cNvPr>
          <p:cNvSpPr/>
          <p:nvPr/>
        </p:nvSpPr>
        <p:spPr>
          <a:xfrm>
            <a:off x="5632450" y="1842844"/>
            <a:ext cx="1676400" cy="787400"/>
          </a:xfrm>
          <a:prstGeom prst="rect">
            <a:avLst/>
          </a:prstGeom>
          <a:solidFill>
            <a:srgbClr val="00968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F94934-F2FF-F06F-642A-3C1D4FE9725D}"/>
              </a:ext>
            </a:extLst>
          </p:cNvPr>
          <p:cNvSpPr/>
          <p:nvPr/>
        </p:nvSpPr>
        <p:spPr>
          <a:xfrm>
            <a:off x="7537450" y="1842844"/>
            <a:ext cx="1676400" cy="787400"/>
          </a:xfrm>
          <a:prstGeom prst="rect">
            <a:avLst/>
          </a:prstGeom>
          <a:solidFill>
            <a:srgbClr val="11182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BA05B2-F6E8-7D50-3413-4865A7D110F2}"/>
              </a:ext>
            </a:extLst>
          </p:cNvPr>
          <p:cNvSpPr txBox="1"/>
          <p:nvPr/>
        </p:nvSpPr>
        <p:spPr>
          <a:xfrm>
            <a:off x="44450" y="2706444"/>
            <a:ext cx="14605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200">
                <a:solidFill>
                  <a:srgbClr val="374151"/>
                </a:solidFill>
                <a:latin typeface="Aptos" panose="020B0004020202020204" pitchFamily="34" charset="0"/>
              </a:rPr>
              <a:t>Primarna plava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982A0B-706C-9AC8-E532-ECEBEAA49EEA}"/>
              </a:ext>
            </a:extLst>
          </p:cNvPr>
          <p:cNvSpPr txBox="1"/>
          <p:nvPr/>
        </p:nvSpPr>
        <p:spPr>
          <a:xfrm>
            <a:off x="374650" y="2935044"/>
            <a:ext cx="88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100">
                <a:solidFill>
                  <a:srgbClr val="374151"/>
                </a:solidFill>
                <a:latin typeface="Aptos" panose="020B0004020202020204" pitchFamily="34" charset="0"/>
              </a:rPr>
              <a:t>#5F8FF5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25C901-8293-17B3-82C9-18A1E4B112DD}"/>
              </a:ext>
            </a:extLst>
          </p:cNvPr>
          <p:cNvSpPr txBox="1"/>
          <p:nvPr/>
        </p:nvSpPr>
        <p:spPr>
          <a:xfrm>
            <a:off x="1835150" y="2706444"/>
            <a:ext cx="1651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200">
                <a:solidFill>
                  <a:srgbClr val="374151"/>
                </a:solidFill>
                <a:latin typeface="Aptos" panose="020B0004020202020204" pitchFamily="34" charset="0"/>
              </a:rPr>
              <a:t>Sekundarna plava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AADDA5-7578-1A0E-6ED6-51C46E762136}"/>
              </a:ext>
            </a:extLst>
          </p:cNvPr>
          <p:cNvSpPr txBox="1"/>
          <p:nvPr/>
        </p:nvSpPr>
        <p:spPr>
          <a:xfrm>
            <a:off x="2254250" y="2935044"/>
            <a:ext cx="88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100">
                <a:solidFill>
                  <a:srgbClr val="374151"/>
                </a:solidFill>
                <a:latin typeface="Aptos" panose="020B0004020202020204" pitchFamily="34" charset="0"/>
              </a:rPr>
              <a:t>#5565EA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B036B6-107D-975C-2130-03CE4733FE70}"/>
              </a:ext>
            </a:extLst>
          </p:cNvPr>
          <p:cNvSpPr txBox="1"/>
          <p:nvPr/>
        </p:nvSpPr>
        <p:spPr>
          <a:xfrm>
            <a:off x="4006850" y="2706444"/>
            <a:ext cx="1270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200">
                <a:solidFill>
                  <a:srgbClr val="374151"/>
                </a:solidFill>
                <a:latin typeface="Aptos" panose="020B0004020202020204" pitchFamily="34" charset="0"/>
              </a:rPr>
              <a:t>Ljubičasta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515364-7BF9-1580-D981-E169FED5800F}"/>
              </a:ext>
            </a:extLst>
          </p:cNvPr>
          <p:cNvSpPr txBox="1"/>
          <p:nvPr/>
        </p:nvSpPr>
        <p:spPr>
          <a:xfrm>
            <a:off x="4311650" y="2935044"/>
            <a:ext cx="88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100">
                <a:solidFill>
                  <a:srgbClr val="374151"/>
                </a:solidFill>
                <a:latin typeface="Aptos" panose="020B0004020202020204" pitchFamily="34" charset="0"/>
              </a:rPr>
              <a:t>#5A24D9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1C1E81-9737-77D0-3149-65553FF57505}"/>
              </a:ext>
            </a:extLst>
          </p:cNvPr>
          <p:cNvSpPr txBox="1"/>
          <p:nvPr/>
        </p:nvSpPr>
        <p:spPr>
          <a:xfrm>
            <a:off x="5886450" y="2706444"/>
            <a:ext cx="14605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200">
                <a:solidFill>
                  <a:srgbClr val="374151"/>
                </a:solidFill>
                <a:latin typeface="Aptos" panose="020B0004020202020204" pitchFamily="34" charset="0"/>
              </a:rPr>
              <a:t>Akcent zelena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639239-60AA-E0C1-A0F7-900EB791BC55}"/>
              </a:ext>
            </a:extLst>
          </p:cNvPr>
          <p:cNvSpPr txBox="1"/>
          <p:nvPr/>
        </p:nvSpPr>
        <p:spPr>
          <a:xfrm>
            <a:off x="6216650" y="2935044"/>
            <a:ext cx="88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100">
                <a:solidFill>
                  <a:srgbClr val="374151"/>
                </a:solidFill>
                <a:latin typeface="Aptos" panose="020B0004020202020204" pitchFamily="34" charset="0"/>
              </a:rPr>
              <a:t>#009688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90E1D8-73E1-CDE3-E312-ABC2049BD999}"/>
              </a:ext>
            </a:extLst>
          </p:cNvPr>
          <p:cNvSpPr txBox="1"/>
          <p:nvPr/>
        </p:nvSpPr>
        <p:spPr>
          <a:xfrm>
            <a:off x="7829550" y="2706444"/>
            <a:ext cx="1524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200">
                <a:solidFill>
                  <a:srgbClr val="374151"/>
                </a:solidFill>
                <a:latin typeface="Aptos" panose="020B0004020202020204" pitchFamily="34" charset="0"/>
              </a:rPr>
              <a:t>Tamna površina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F669B7-C39C-8F31-1CB9-1316D0C3ABB4}"/>
              </a:ext>
            </a:extLst>
          </p:cNvPr>
          <p:cNvSpPr txBox="1"/>
          <p:nvPr/>
        </p:nvSpPr>
        <p:spPr>
          <a:xfrm>
            <a:off x="8172450" y="2935044"/>
            <a:ext cx="88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100">
                <a:solidFill>
                  <a:srgbClr val="374151"/>
                </a:solidFill>
                <a:latin typeface="Aptos" panose="020B0004020202020204" pitchFamily="34" charset="0"/>
              </a:rPr>
              <a:t>#111827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884E42-D6EA-CA37-F2C6-00A553F409BA}"/>
              </a:ext>
            </a:extLst>
          </p:cNvPr>
          <p:cNvSpPr txBox="1"/>
          <p:nvPr/>
        </p:nvSpPr>
        <p:spPr>
          <a:xfrm>
            <a:off x="425450" y="3837345"/>
            <a:ext cx="1092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700" dirty="0">
                <a:solidFill>
                  <a:srgbClr val="374151"/>
                </a:solidFill>
                <a:latin typeface="Aptos" panose="020B0004020202020204" pitchFamily="34" charset="0"/>
              </a:rPr>
              <a:t>Plava i ljubičasta nose identitet i osjećaj kretanja. Zelena označava aktivna i pozitivna stanja,</a:t>
            </a:r>
          </a:p>
          <a:p>
            <a:r>
              <a:rPr lang="hr-HR" sz="1700" dirty="0">
                <a:solidFill>
                  <a:srgbClr val="374151"/>
                </a:solidFill>
                <a:latin typeface="Aptos" panose="020B0004020202020204" pitchFamily="34" charset="0"/>
              </a:rPr>
              <a:t>a tamne i svijetle neutralne površine služe za kontrast i odvajanje slojeva sadržaja.</a:t>
            </a:r>
          </a:p>
        </p:txBody>
      </p:sp>
    </p:spTree>
    <p:extLst>
      <p:ext uri="{BB962C8B-B14F-4D97-AF65-F5344CB8AC3E}">
        <p14:creationId xmlns:p14="http://schemas.microsoft.com/office/powerpoint/2010/main" val="189424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171229-C0DF-82CD-A86B-117371FEDD51}"/>
              </a:ext>
            </a:extLst>
          </p:cNvPr>
          <p:cNvSpPr txBox="1"/>
          <p:nvPr/>
        </p:nvSpPr>
        <p:spPr>
          <a:xfrm>
            <a:off x="584200" y="355600"/>
            <a:ext cx="635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r-HR" sz="2200" b="1">
                <a:solidFill>
                  <a:srgbClr val="FFFFFF"/>
                </a:solidFill>
                <a:latin typeface="Georgia" panose="02040502050405020303" pitchFamily="18" charset="0"/>
              </a:rPr>
              <a:t>4. Zasloni, komponente i stanja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E8F4BD-02B9-A6CA-5EAB-1259344B67A7}"/>
              </a:ext>
            </a:extLst>
          </p:cNvPr>
          <p:cNvSpPr txBox="1"/>
          <p:nvPr/>
        </p:nvSpPr>
        <p:spPr>
          <a:xfrm>
            <a:off x="584200" y="863600"/>
            <a:ext cx="1041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600">
                <a:solidFill>
                  <a:srgbClr val="ECF0F5"/>
                </a:solidFill>
                <a:latin typeface="Aptos" panose="020B0004020202020204" pitchFamily="34" charset="0"/>
              </a:rPr>
              <a:t>Glavni tokovi aplikacije prikazani su kroz ključne zaslone i njihove komponente.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8BCE928-F087-932F-C4ED-00F8BA49C82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000" y="1524000"/>
            <a:ext cx="2286000" cy="4572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277C7A9-D0C4-284A-67AC-74F3D0D1A98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4500" y="1524000"/>
            <a:ext cx="2286000" cy="4572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CA7AA57-DD13-5B94-651B-653FFDBC31C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1000" y="1524000"/>
            <a:ext cx="2286000" cy="4572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007CC20-A33F-BDFF-3FC8-D34C03FB095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500" y="1524000"/>
            <a:ext cx="2286000" cy="4572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84D355-0AB4-2AFD-ED63-C6E239D1CA72}"/>
              </a:ext>
            </a:extLst>
          </p:cNvPr>
          <p:cNvSpPr txBox="1"/>
          <p:nvPr/>
        </p:nvSpPr>
        <p:spPr>
          <a:xfrm>
            <a:off x="1206500" y="6197600"/>
            <a:ext cx="889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200">
                <a:solidFill>
                  <a:srgbClr val="ECF0F5"/>
                </a:solidFill>
                <a:latin typeface="Aptos" panose="020B0004020202020204" pitchFamily="34" charset="0"/>
              </a:rPr>
              <a:t>Wallet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E30C42-644A-C0BF-5B55-E5C22B9E8C6C}"/>
              </a:ext>
            </a:extLst>
          </p:cNvPr>
          <p:cNvSpPr txBox="1"/>
          <p:nvPr/>
        </p:nvSpPr>
        <p:spPr>
          <a:xfrm>
            <a:off x="3581400" y="6197600"/>
            <a:ext cx="101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200">
                <a:solidFill>
                  <a:srgbClr val="ECF0F5"/>
                </a:solidFill>
                <a:latin typeface="Aptos" panose="020B0004020202020204" pitchFamily="34" charset="0"/>
              </a:rPr>
              <a:t>Account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93A7A1-7BCC-827C-FAD1-9A0F99648B36}"/>
              </a:ext>
            </a:extLst>
          </p:cNvPr>
          <p:cNvSpPr txBox="1"/>
          <p:nvPr/>
        </p:nvSpPr>
        <p:spPr>
          <a:xfrm>
            <a:off x="6286500" y="6197600"/>
            <a:ext cx="76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200">
                <a:solidFill>
                  <a:srgbClr val="ECF0F5"/>
                </a:solidFill>
                <a:latin typeface="Aptos" panose="020B0004020202020204" pitchFamily="34" charset="0"/>
              </a:rPr>
              <a:t>Shop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CD04EE-8081-5489-6D4C-AFEB1669DC9D}"/>
              </a:ext>
            </a:extLst>
          </p:cNvPr>
          <p:cNvSpPr txBox="1"/>
          <p:nvPr/>
        </p:nvSpPr>
        <p:spPr>
          <a:xfrm>
            <a:off x="8572500" y="6197600"/>
            <a:ext cx="889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200">
                <a:solidFill>
                  <a:srgbClr val="ECF0F5"/>
                </a:solidFill>
                <a:latin typeface="Aptos" panose="020B0004020202020204" pitchFamily="34" charset="0"/>
              </a:rPr>
              <a:t>Tickets</a:t>
            </a:r>
          </a:p>
        </p:txBody>
      </p:sp>
    </p:spTree>
    <p:extLst>
      <p:ext uri="{BB962C8B-B14F-4D97-AF65-F5344CB8AC3E}">
        <p14:creationId xmlns:p14="http://schemas.microsoft.com/office/powerpoint/2010/main" val="2854161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4DC38D-759F-AB57-4919-B7F9B59EC270}"/>
              </a:ext>
            </a:extLst>
          </p:cNvPr>
          <p:cNvSpPr txBox="1"/>
          <p:nvPr/>
        </p:nvSpPr>
        <p:spPr>
          <a:xfrm>
            <a:off x="584200" y="355600"/>
            <a:ext cx="711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r-HR" sz="2200" b="1">
                <a:solidFill>
                  <a:srgbClr val="111827"/>
                </a:solidFill>
                <a:latin typeface="Georgia" panose="02040502050405020303" pitchFamily="18" charset="0"/>
              </a:rPr>
              <a:t>5. Dimenzije, razmaci i pozicioniranje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9DEB79-DAD5-DF28-DB34-97384DADB7CB}"/>
              </a:ext>
            </a:extLst>
          </p:cNvPr>
          <p:cNvSpPr txBox="1"/>
          <p:nvPr/>
        </p:nvSpPr>
        <p:spPr>
          <a:xfrm>
            <a:off x="584200" y="863600"/>
            <a:ext cx="965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600">
                <a:solidFill>
                  <a:srgbClr val="374151"/>
                </a:solidFill>
                <a:latin typeface="Aptos" panose="020B0004020202020204" pitchFamily="34" charset="0"/>
              </a:rPr>
              <a:t>Tehnički pregled mjerila i pravila rasporeda glavnih elemenata.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FA66E3-09F8-EC81-1C63-43B5511A88E4}"/>
              </a:ext>
            </a:extLst>
          </p:cNvPr>
          <p:cNvSpPr/>
          <p:nvPr/>
        </p:nvSpPr>
        <p:spPr>
          <a:xfrm>
            <a:off x="0" y="1501140"/>
            <a:ext cx="4953000" cy="3175000"/>
          </a:xfrm>
          <a:prstGeom prst="rect">
            <a:avLst/>
          </a:prstGeom>
          <a:solidFill>
            <a:srgbClr val="F2F5F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09646C-4CE5-B5D0-1509-293B1BE4131E}"/>
              </a:ext>
            </a:extLst>
          </p:cNvPr>
          <p:cNvSpPr/>
          <p:nvPr/>
        </p:nvSpPr>
        <p:spPr>
          <a:xfrm>
            <a:off x="5384800" y="1501140"/>
            <a:ext cx="4953000" cy="3175000"/>
          </a:xfrm>
          <a:prstGeom prst="rect">
            <a:avLst/>
          </a:prstGeom>
          <a:solidFill>
            <a:srgbClr val="F2F5F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BEED2F-8348-2019-0A76-BD4A71B58EE7}"/>
              </a:ext>
            </a:extLst>
          </p:cNvPr>
          <p:cNvSpPr txBox="1"/>
          <p:nvPr/>
        </p:nvSpPr>
        <p:spPr>
          <a:xfrm>
            <a:off x="254000" y="181864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800">
                <a:solidFill>
                  <a:srgbClr val="374151"/>
                </a:solidFill>
                <a:latin typeface="Aptos" panose="020B0004020202020204" pitchFamily="34" charset="0"/>
              </a:rPr>
              <a:t>Dimenzije elemenata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C275B5-C4E4-6C5C-24FE-B520A1E6B09C}"/>
              </a:ext>
            </a:extLst>
          </p:cNvPr>
          <p:cNvSpPr txBox="1"/>
          <p:nvPr/>
        </p:nvSpPr>
        <p:spPr>
          <a:xfrm>
            <a:off x="254000" y="2263140"/>
            <a:ext cx="381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600">
                <a:solidFill>
                  <a:srgbClr val="374151"/>
                </a:solidFill>
                <a:latin typeface="Aptos" panose="020B0004020202020204" pitchFamily="34" charset="0"/>
              </a:rPr>
              <a:t>• balance kartica: 360 × 188 px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C21319-5C44-10C1-9673-26377B94943A}"/>
              </a:ext>
            </a:extLst>
          </p:cNvPr>
          <p:cNvSpPr txBox="1"/>
          <p:nvPr/>
        </p:nvSpPr>
        <p:spPr>
          <a:xfrm>
            <a:off x="254000" y="2669540"/>
            <a:ext cx="406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374151"/>
                </a:solidFill>
                <a:latin typeface="Aptos" panose="020B0004020202020204" pitchFamily="34" charset="0"/>
              </a:rPr>
              <a:t>• segmented control: oko 50 px visine</a:t>
            </a:r>
            <a:endParaRPr lang="hr-HR" sz="1600">
              <a:solidFill>
                <a:srgbClr val="374151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7B4215-45A2-1F47-8759-3A3AEB6D5031}"/>
              </a:ext>
            </a:extLst>
          </p:cNvPr>
          <p:cNvSpPr txBox="1"/>
          <p:nvPr/>
        </p:nvSpPr>
        <p:spPr>
          <a:xfrm>
            <a:off x="254000" y="3075940"/>
            <a:ext cx="406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1600">
                <a:solidFill>
                  <a:srgbClr val="374151"/>
                </a:solidFill>
                <a:latin typeface="Aptos" panose="020B0004020202020204" pitchFamily="34" charset="0"/>
              </a:rPr>
              <a:t>• primarni gumb: 48–52 px visine</a:t>
            </a:r>
            <a:endParaRPr lang="hr-HR" sz="1600">
              <a:solidFill>
                <a:srgbClr val="374151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0EB9AF-8D34-30F7-F86C-0018A8465596}"/>
              </a:ext>
            </a:extLst>
          </p:cNvPr>
          <p:cNvSpPr txBox="1"/>
          <p:nvPr/>
        </p:nvSpPr>
        <p:spPr>
          <a:xfrm>
            <a:off x="254000" y="3482340"/>
            <a:ext cx="2286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600">
                <a:solidFill>
                  <a:srgbClr val="374151"/>
                </a:solidFill>
                <a:latin typeface="Aptos" panose="020B0004020202020204" pitchFamily="34" charset="0"/>
              </a:rPr>
              <a:t>• avatar: 60 px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861F98-DB5F-CD29-2581-C72A0B60FF62}"/>
              </a:ext>
            </a:extLst>
          </p:cNvPr>
          <p:cNvSpPr txBox="1"/>
          <p:nvPr/>
        </p:nvSpPr>
        <p:spPr>
          <a:xfrm>
            <a:off x="254000" y="3888740"/>
            <a:ext cx="2921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600">
                <a:solidFill>
                  <a:srgbClr val="374151"/>
                </a:solidFill>
                <a:latin typeface="Aptos" panose="020B0004020202020204" pitchFamily="34" charset="0"/>
              </a:rPr>
              <a:t>• ikone u listama: oko 20 px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7A4F22-D905-9119-00E8-8E96B2DB1C97}"/>
              </a:ext>
            </a:extLst>
          </p:cNvPr>
          <p:cNvSpPr txBox="1"/>
          <p:nvPr/>
        </p:nvSpPr>
        <p:spPr>
          <a:xfrm>
            <a:off x="5638800" y="181864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800">
                <a:solidFill>
                  <a:srgbClr val="374151"/>
                </a:solidFill>
                <a:latin typeface="Aptos" panose="020B0004020202020204" pitchFamily="34" charset="0"/>
              </a:rPr>
              <a:t>Razmaci i pozicioniranje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D61F08-0C77-1FA0-0444-57549B8C9AED}"/>
              </a:ext>
            </a:extLst>
          </p:cNvPr>
          <p:cNvSpPr txBox="1"/>
          <p:nvPr/>
        </p:nvSpPr>
        <p:spPr>
          <a:xfrm>
            <a:off x="5638800" y="2263140"/>
            <a:ext cx="3175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600">
                <a:solidFill>
                  <a:srgbClr val="374151"/>
                </a:solidFill>
                <a:latin typeface="Aptos" panose="020B0004020202020204" pitchFamily="34" charset="0"/>
              </a:rPr>
              <a:t>• dosljedan bočni padding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7AAE79-E592-70AF-A30E-503D420A56DC}"/>
              </a:ext>
            </a:extLst>
          </p:cNvPr>
          <p:cNvSpPr txBox="1"/>
          <p:nvPr/>
        </p:nvSpPr>
        <p:spPr>
          <a:xfrm>
            <a:off x="5638800" y="2669540"/>
            <a:ext cx="3556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600">
                <a:solidFill>
                  <a:srgbClr val="374151"/>
                </a:solidFill>
                <a:latin typeface="Aptos" panose="020B0004020202020204" pitchFamily="34" charset="0"/>
              </a:rPr>
              <a:t>• kartice poravnate po istoj osi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2B9BD3-6C43-FB11-8456-AD0EE5423E59}"/>
              </a:ext>
            </a:extLst>
          </p:cNvPr>
          <p:cNvSpPr txBox="1"/>
          <p:nvPr/>
        </p:nvSpPr>
        <p:spPr>
          <a:xfrm>
            <a:off x="5638800" y="3075940"/>
            <a:ext cx="3683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600">
                <a:solidFill>
                  <a:srgbClr val="374151"/>
                </a:solidFill>
                <a:latin typeface="Aptos" panose="020B0004020202020204" pitchFamily="34" charset="0"/>
              </a:rPr>
              <a:t>• veći razmaci između sekcija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9B13D7-4867-088E-1DE3-815E36FB27A4}"/>
              </a:ext>
            </a:extLst>
          </p:cNvPr>
          <p:cNvSpPr txBox="1"/>
          <p:nvPr/>
        </p:nvSpPr>
        <p:spPr>
          <a:xfrm>
            <a:off x="5638800" y="3482340"/>
            <a:ext cx="3937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600">
                <a:solidFill>
                  <a:srgbClr val="374151"/>
                </a:solidFill>
                <a:latin typeface="Aptos" panose="020B0004020202020204" pitchFamily="34" charset="0"/>
              </a:rPr>
              <a:t>• manji razmaci unutar komponenti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A040AD-69F2-ECC0-A803-9F2AA6FB30A8}"/>
              </a:ext>
            </a:extLst>
          </p:cNvPr>
          <p:cNvSpPr txBox="1"/>
          <p:nvPr/>
        </p:nvSpPr>
        <p:spPr>
          <a:xfrm>
            <a:off x="5638800" y="3888740"/>
            <a:ext cx="3556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600">
                <a:solidFill>
                  <a:srgbClr val="374151"/>
                </a:solidFill>
                <a:latin typeface="Aptos" panose="020B0004020202020204" pitchFamily="34" charset="0"/>
              </a:rPr>
              <a:t>• elementi grupirani po funkciji</a:t>
            </a:r>
          </a:p>
        </p:txBody>
      </p:sp>
    </p:spTree>
    <p:extLst>
      <p:ext uri="{BB962C8B-B14F-4D97-AF65-F5344CB8AC3E}">
        <p14:creationId xmlns:p14="http://schemas.microsoft.com/office/powerpoint/2010/main" val="1256461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5AB9F2-FFBD-D878-4D4C-A9C3C9B6E6F6}"/>
              </a:ext>
            </a:extLst>
          </p:cNvPr>
          <p:cNvSpPr txBox="1"/>
          <p:nvPr/>
        </p:nvSpPr>
        <p:spPr>
          <a:xfrm>
            <a:off x="584200" y="355600"/>
            <a:ext cx="584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Georgia" panose="02040502050405020303" pitchFamily="18" charset="0"/>
              </a:rPr>
              <a:t>6. Light/Dark i loading stanja</a:t>
            </a:r>
            <a:endParaRPr lang="hr-HR" sz="22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803901-28A4-EAB7-8408-C36641FB14BC}"/>
              </a:ext>
            </a:extLst>
          </p:cNvPr>
          <p:cNvSpPr txBox="1"/>
          <p:nvPr/>
        </p:nvSpPr>
        <p:spPr>
          <a:xfrm>
            <a:off x="584200" y="863600"/>
            <a:ext cx="1092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600">
                <a:solidFill>
                  <a:srgbClr val="ECF0F5"/>
                </a:solidFill>
                <a:latin typeface="Aptos" panose="020B0004020202020204" pitchFamily="34" charset="0"/>
              </a:rPr>
              <a:t>Isti raspored zadržava se u obje teme, dok se loading i kontrast prilagođavaju radi čitljivosti.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91F33EE-F771-746D-D1F5-1241BBC8DD0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360" y="1531620"/>
            <a:ext cx="1524000" cy="3175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C2E8F4A-524B-8337-FF61-52C627A6ADF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1360" y="1531620"/>
            <a:ext cx="1524000" cy="3175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E2244F9-9F57-3526-5816-73BAE8B8F15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3360" y="1531620"/>
            <a:ext cx="1524000" cy="3175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9DDE460-0945-05AB-0DCA-C48E8D3C324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01360" y="1531620"/>
            <a:ext cx="1524000" cy="3175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74DA78-228E-12ED-7249-CBBDC3C744B6}"/>
              </a:ext>
            </a:extLst>
          </p:cNvPr>
          <p:cNvSpPr txBox="1"/>
          <p:nvPr/>
        </p:nvSpPr>
        <p:spPr>
          <a:xfrm>
            <a:off x="9276080" y="1531620"/>
            <a:ext cx="3190240" cy="11387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700">
                <a:solidFill>
                  <a:srgbClr val="ECF0F5"/>
                </a:solidFill>
                <a:latin typeface="Aptos" panose="020B0004020202020204" pitchFamily="34" charset="0"/>
              </a:rPr>
              <a:t>Loading stanja prate stvarni raspored završnih zaslona kako korisnik ne bi gubio orijentaciju tijekom učitavanja.</a:t>
            </a:r>
          </a:p>
        </p:txBody>
      </p:sp>
    </p:spTree>
    <p:extLst>
      <p:ext uri="{BB962C8B-B14F-4D97-AF65-F5344CB8AC3E}">
        <p14:creationId xmlns:p14="http://schemas.microsoft.com/office/powerpoint/2010/main" val="2987861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749016-A191-546F-58F6-962553E1BB4D}"/>
              </a:ext>
            </a:extLst>
          </p:cNvPr>
          <p:cNvSpPr txBox="1"/>
          <p:nvPr/>
        </p:nvSpPr>
        <p:spPr>
          <a:xfrm>
            <a:off x="584200" y="355600"/>
            <a:ext cx="406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r-HR" sz="2200" b="1">
                <a:solidFill>
                  <a:srgbClr val="FFFFFF"/>
                </a:solidFill>
                <a:latin typeface="Georgia" panose="02040502050405020303" pitchFamily="18" charset="0"/>
              </a:rPr>
              <a:t>7. UX i zaključak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528D85-9F57-6925-DE2D-BB959858464E}"/>
              </a:ext>
            </a:extLst>
          </p:cNvPr>
          <p:cNvSpPr txBox="1"/>
          <p:nvPr/>
        </p:nvSpPr>
        <p:spPr>
          <a:xfrm>
            <a:off x="584200" y="863600"/>
            <a:ext cx="569468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600" dirty="0">
                <a:solidFill>
                  <a:srgbClr val="ECF0F5"/>
                </a:solidFill>
                <a:latin typeface="Aptos" panose="020B0004020202020204" pitchFamily="34" charset="0"/>
              </a:rPr>
              <a:t>UX je usmjeren na intuitivnost, brzinu snalaženja i čitljivost kroz sve glavne funkcije.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E812BB-4834-2A27-ABD6-0A5FF1559FA1}"/>
              </a:ext>
            </a:extLst>
          </p:cNvPr>
          <p:cNvSpPr txBox="1"/>
          <p:nvPr/>
        </p:nvSpPr>
        <p:spPr>
          <a:xfrm>
            <a:off x="584200" y="2385775"/>
            <a:ext cx="492506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hr-HR" sz="1800" dirty="0">
                <a:solidFill>
                  <a:srgbClr val="ECF0F5"/>
                </a:solidFill>
                <a:latin typeface="Aptos" panose="020B0004020202020204" pitchFamily="34" charset="0"/>
              </a:rPr>
              <a:t>Korisnik treba brzo razumjeti gdje se nalazi, koje su mu dostupne akcije i kako završiti glavni zadatak. Dizajn zato koristi dosljedan raspored, jasnu hijerarhiju i stabilna stanja elemenata.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4AE644A-FED0-4E43-6F8B-1EC2E369196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54800" y="285750"/>
            <a:ext cx="228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322052"/>
      </p:ext>
    </p:extLst>
  </p:cSld>
  <p:clrMapOvr>
    <a:masterClrMapping/>
  </p:clrMapOvr>
</p:sld>
</file>

<file path=ppt/theme/theme1.xml><?xml version="1.0" encoding="utf-8"?>
<a:theme xmlns:a="http://schemas.openxmlformats.org/drawingml/2006/main" name="Comparison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5A54FF"/>
      </a:accent1>
      <a:accent2>
        <a:srgbClr val="9682FF"/>
      </a:accent2>
      <a:accent3>
        <a:srgbClr val="BDBBEB"/>
      </a:accent3>
      <a:accent4>
        <a:srgbClr val="03DAC4"/>
      </a:accent4>
      <a:accent5>
        <a:srgbClr val="66FFF7"/>
      </a:accent5>
      <a:accent6>
        <a:srgbClr val="00A794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409</Words>
  <Application>Microsoft Office PowerPoint</Application>
  <PresentationFormat>On-screen Show (16:9)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Fira Sans</vt:lpstr>
      <vt:lpstr>Georgia</vt:lpstr>
      <vt:lpstr>Arial</vt:lpstr>
      <vt:lpstr>Aptos</vt:lpstr>
      <vt:lpstr>Comparison Infographics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Luka .</cp:lastModifiedBy>
  <cp:revision>17</cp:revision>
  <dcterms:modified xsi:type="dcterms:W3CDTF">2026-04-30T02:07:43Z</dcterms:modified>
</cp:coreProperties>
</file>